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1_yield.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2_profit.png"/></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3_environment.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4_irrigation.png"/><Relationship Id="rId4" Type="http://schemas.openxmlformats.org/officeDocument/2006/relationships/image" Target="../media/chart5_risk.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 Id="rId3" Type="http://schemas.openxmlformats.org/officeDocument/2006/relationships/image" Target="../media/chart6_state.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Description Body"/>
          <p:cNvSpPr txBox="1"/>
          <p:nvPr/>
        </p:nvSpPr>
        <p:spPr>
          <a:xfrm>
            <a:off x="660399" y="1900000"/>
            <a:ext cx="10800000" cy="4300000"/>
          </a:xfrm>
          <a:prstGeom prst="rect">
            <a:avLst/>
          </a:prstGeom>
          <a:noFill/>
        </p:spPr>
        <p:txBody>
          <a:bodyPr wrap="square" anchor="t" lIns="0" tIns="0" rIns="0" bIns="0">
            <a:normAutofit/>
          </a:bodyPr>
          <a:lstStyle/>
          <a:p>
            <a:pPr marL="285750" indent="-285750">
              <a:buClr>
                <a:srgbClr val="1F6FB2"/>
              </a:buClr>
              <a:buFont typeface="Arial"/>
              <a:buChar char="•"/>
              <a:spcAft>
                <a:spcPts val="1400"/>
              </a:spcAft>
            </a:pPr>
            <a:r>
              <a:rPr lang="en-US" sz="1800" dirty="0"/>
              <a:t>This project performs an end-to-end exploratory and statistical analysis of a seasonal agriculture dataset covering 4,000 farm-level records from 8 Indian states, 8 crops and 3 growing seasons (Kharif, Rabi, Zaid).</a:t>
            </a:r>
          </a:p>
          <a:p>
            <a:pPr marL="285750" indent="-285750">
              <a:buClr>
                <a:srgbClr val="1F6FB2"/>
              </a:buClr>
              <a:buFont typeface="Arial"/>
              <a:buChar char="•"/>
              <a:spcAft>
                <a:spcPts val="1400"/>
              </a:spcAft>
            </a:pPr>
            <a:r>
              <a:rPr lang="en-US" sz="1800" dirty="0"/>
              <a:t>The dataset includes environmental factors (rainfall, temperature, humidity, soil health), farming inputs (fertilizer, pesticide, irrigation method), and outcomes (yield, cost, revenue, profit, water use, disease/pest risk).</a:t>
            </a:r>
          </a:p>
          <a:p>
            <a:pPr marL="285750" indent="-285750">
              <a:buClr>
                <a:srgbClr val="1F6FB2"/>
              </a:buClr>
              <a:buFont typeface="Arial"/>
              <a:buChar char="•"/>
              <a:spcAft>
                <a:spcPts val="1400"/>
              </a:spcAft>
            </a:pPr>
            <a:r>
              <a:rPr lang="en-US" sz="1800" dirty="0"/>
              <a:t>Key steps: data cleaning (handling missing values), season-wise comparison of performance metrics, correlation analysis, and benchmarking of irrigation methods and states.</a:t>
            </a:r>
          </a:p>
          <a:p>
            <a:pPr marL="285750" indent="-285750">
              <a:buClr>
                <a:srgbClr val="1F6FB2"/>
              </a:buClr>
              <a:buFont typeface="Arial"/>
              <a:buChar char="•"/>
            </a:pPr>
            <a:r>
              <a:rPr lang="en-US" sz="1800" dirty="0"/>
              <a:t>The analysis was carried out in Python (Pandas, Matplotlib) inside a Jupyter Notebook, and findings are translated into practical, evidence-based recommendations for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342900" indent="-342900">
              <a:buClr>
                <a:srgbClr val="1F6FB2"/>
              </a:buClr>
              <a:buFont typeface="Arial"/>
              <a:buChar char="•"/>
              <a:spcAft>
                <a:spcPts val="2000"/>
              </a:spcAft>
            </a:pPr>
            <a:r>
              <a:rPr lang="en-US" sz="2000" dirty="0"/>
              <a:t>Farmers &amp; farmer cooperatives – plan sowing, irrigation and input use season-wise</a:t>
            </a:r>
          </a:p>
          <a:p>
            <a:pPr marL="342900" indent="-342900">
              <a:buClr>
                <a:srgbClr val="1F6FB2"/>
              </a:buClr>
              <a:buFont typeface="Arial"/>
              <a:buChar char="•"/>
              <a:spcAft>
                <a:spcPts val="2000"/>
              </a:spcAft>
            </a:pPr>
            <a:r>
              <a:rPr lang="en-US" sz="2000" dirty="0"/>
              <a:t>State agriculture departments &amp; policymakers – design season-specific support schemes and subsidies</a:t>
            </a:r>
          </a:p>
          <a:p>
            <a:pPr marL="342900" indent="-342900">
              <a:buClr>
                <a:srgbClr val="1F6FB2"/>
              </a:buClr>
              <a:buFont typeface="Arial"/>
              <a:buChar char="•"/>
              <a:spcAft>
                <a:spcPts val="2000"/>
              </a:spcAft>
            </a:pPr>
            <a:r>
              <a:rPr lang="en-US" sz="2000" dirty="0"/>
              <a:t>Agri-input &amp; agri-tech companies – target fertilizer, seed and irrigation-equipment offerings by season and region</a:t>
            </a:r>
          </a:p>
          <a:p>
            <a:pPr marL="342900" indent="-342900">
              <a:buClr>
                <a:srgbClr val="1F6FB2"/>
              </a:buClr>
              <a:buFont typeface="Arial"/>
              <a:buChar char="•"/>
              <a:spcAft>
                <a:spcPts val="2000"/>
              </a:spcAft>
            </a:pPr>
            <a:r>
              <a:rPr lang="en-US" sz="2000" dirty="0"/>
              <a:t>Crop insurance &amp; agricultural lending institutions – assess seasonal risk while pricing products</a:t>
            </a:r>
          </a:p>
          <a:p>
            <a:pPr marL="342900" indent="-342900">
              <a:buClr>
                <a:srgbClr val="1F6FB2"/>
              </a:buClr>
              <a:buFont typeface="Arial"/>
              <a:buChar char="•"/>
              <a:spcAft>
                <a:spcPts val="2000"/>
              </a:spcAft>
            </a:pPr>
            <a:r>
              <a:rPr lang="en-US" sz="2000" dirty="0"/>
              <a:t>Agricultural researchers &amp; data analysts – study seasonal performance patterns for further research</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50000" y="1432560"/>
            <a:ext cx="7368302" cy="5243448"/>
          </a:xfrm>
        </p:spPr>
        <p:txBody>
          <a:bodyPr>
            <a:normAutofit fontScale="80000" lnSpcReduction="10000"/>
          </a:bodyPr>
          <a:lstStyle/>
          <a:p>
            <a:pPr marL="342900" indent="-342900">
              <a:lnSpc>
                <a:spcPct val="130000"/>
              </a:lnSpc>
              <a:buClr>
                <a:srgbClr val="1F6FB2"/>
              </a:buClr>
              <a:buFont typeface="Arial"/>
              <a:buChar char="•"/>
              <a:spcAft>
                <a:spcPts val="1600"/>
              </a:spcAft>
            </a:pPr>
            <a:r>
              <a:rPr lang="en-US" sz="1800" dirty="0"/>
              <a:t>Python 3 (Pandas, NumPy) – data cleaning, aggregation and statistical computation</a:t>
            </a:r>
          </a:p>
          <a:p>
            <a:pPr marL="342900" indent="-342900">
              <a:lnSpc>
                <a:spcPct val="130000"/>
              </a:lnSpc>
              <a:buClr>
                <a:srgbClr val="1F6FB2"/>
              </a:buClr>
              <a:buFont typeface="Arial"/>
              <a:buChar char="•"/>
              <a:spcAft>
                <a:spcPts val="1600"/>
              </a:spcAft>
            </a:pPr>
            <a:r>
              <a:rPr lang="en-US" sz="1800" dirty="0"/>
              <a:t>Matplotlib / Seaborn – exploratory visualizations and seasonal comparison charts</a:t>
            </a:r>
          </a:p>
          <a:p>
            <a:pPr marL="342900" indent="-342900">
              <a:lnSpc>
                <a:spcPct val="130000"/>
              </a:lnSpc>
              <a:buClr>
                <a:srgbClr val="1F6FB2"/>
              </a:buClr>
              <a:buFont typeface="Arial"/>
              <a:buChar char="•"/>
              <a:spcAft>
                <a:spcPts val="1600"/>
              </a:spcAft>
            </a:pPr>
            <a:r>
              <a:rPr lang="en-US" sz="1800" dirty="0"/>
              <a:t>Jupyter Notebook – documented, end-to-end analysis workflow</a:t>
            </a:r>
          </a:p>
          <a:p>
            <a:pPr marL="342900" indent="-342900">
              <a:lnSpc>
                <a:spcPct val="130000"/>
              </a:lnSpc>
              <a:buClr>
                <a:srgbClr val="1F6FB2"/>
              </a:buClr>
              <a:buFont typeface="Arial"/>
              <a:buChar char="•"/>
              <a:spcAft>
                <a:spcPts val="1600"/>
              </a:spcAft>
            </a:pPr>
            <a:r>
              <a:rPr lang="en-US" sz="1800" dirty="0"/>
              <a:t>Descriptive &amp; inferential statistics – season-wise comparisons and correlation analysis</a:t>
            </a:r>
          </a:p>
          <a:p>
            <a:pPr marL="342900" indent="-342900">
              <a:lnSpc>
                <a:spcPct val="130000"/>
              </a:lnSpc>
              <a:buClr>
                <a:srgbClr val="1F6FB2"/>
              </a:buClr>
              <a:buFont typeface="Arial"/>
              <a:buChar char="•"/>
              <a:spcAft>
                <a:spcPts val="1600"/>
              </a:spcAft>
            </a:pPr>
            <a:r>
              <a:rPr lang="en-US" sz="1800" dirty="0"/>
              <a:t>Excel / CSV – source dataset format and cross-verification</a:t>
            </a:r>
          </a:p>
          <a:p>
            <a:pPr marL="342900" indent="-342900">
              <a:lnSpc>
                <a:spcPct val="130000"/>
              </a:lnSpc>
              <a:buClr>
                <a:srgbClr val="1F6FB2"/>
              </a:buClr>
              <a:buFont typeface="Arial"/>
              <a:buChar char="•"/>
              <a:spcAft>
                <a:spcPts val="1600"/>
              </a:spcAft>
            </a:pPr>
            <a:r>
              <a:rPr lang="en-US" sz="1800" dirty="0"/>
              <a:t>GitHub – version control and project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Subtitle"/>
          <p:cNvSpPr txBox="1"/>
          <p:nvPr/>
        </p:nvSpPr>
        <p:spPr>
          <a:xfrm>
            <a:off x="675957" y="1280000"/>
            <a:ext cx="10500000" cy="500000"/>
          </a:xfrm>
          <a:prstGeom prst="rect">
            <a:avLst/>
          </a:prstGeom>
          <a:noFill/>
        </p:spPr>
        <p:txBody>
          <a:bodyPr wrap="square" anchor="t" lIns="0" tIns="0" rIns="0" bIns="0"/>
          <a:lstStyle/>
          <a:p>
            <a:pPr marL="0" indent="0">
              <a:buNone/>
            </a:pPr>
            <a:r>
              <a:rPr lang="en-US" sz="2000" b="1" dirty="0">
                <a:solidFill>
                  <a:srgbClr val="1F6FB2"/>
                </a:solidFill>
              </a:rPr>
              <a:t>Dataset Overview &amp; Seasonal Yield Comparison</a:t>
            </a:r>
          </a:p>
        </p:txBody>
      </p:sp>
      <p:pic>
        <p:nvPicPr>
          <p:cNvPr id="10" name="Chart Yield"/>
          <p:cNvPicPr>
            <a:picLocks noChangeAspect="1"/>
          </p:cNvPicPr>
          <p:nvPr/>
        </p:nvPicPr>
        <p:blipFill>
          <a:blip r:embed="rId3"/>
          <a:stretch>
            <a:fillRect/>
          </a:stretch>
        </p:blipFill>
        <p:spPr>
          <a:xfrm>
            <a:off x="675957" y="2018750"/>
            <a:ext cx="6500000" cy="4062500"/>
          </a:xfrm>
          <a:prstGeom prst="rect">
            <a:avLst/>
          </a:prstGeom>
        </p:spPr>
      </p:pic>
      <p:sp>
        <p:nvSpPr>
          <p:cNvPr id="11" name="Insights"/>
          <p:cNvSpPr txBox="1"/>
          <p:nvPr/>
        </p:nvSpPr>
        <p:spPr>
          <a:xfrm>
            <a:off x="7450000" y="1950000"/>
            <a:ext cx="4050000" cy="42000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500" dirty="0"/>
              <a:t>4,000 farm records analyzed across 8 states, 8 crops and 4 irrigation methods</a:t>
            </a:r>
          </a:p>
          <a:p>
            <a:pPr marL="285750" indent="-285750">
              <a:buClr>
                <a:srgbClr val="1F6FB2"/>
              </a:buClr>
              <a:buFont typeface="Arial"/>
              <a:buChar char="•"/>
              <a:spcAft>
                <a:spcPts val="1200"/>
              </a:spcAft>
              <a:lnSpc>
                <a:spcPct val="110000"/>
              </a:lnSpc>
            </a:pPr>
            <a:r>
              <a:rPr lang="en-US" sz="1500" dirty="0"/>
              <a:t>Season split: Kharif 1,779 farms | Rabi 1,627 | Zaid 594</a:t>
            </a:r>
          </a:p>
          <a:p>
            <a:pPr marL="285750" indent="-285750">
              <a:buClr>
                <a:srgbClr val="1F6FB2"/>
              </a:buClr>
              <a:buFont typeface="Arial"/>
              <a:buChar char="•"/>
              <a:spcAft>
                <a:spcPts val="1200"/>
              </a:spcAft>
              <a:lnSpc>
                <a:spcPct val="110000"/>
              </a:lnSpc>
            </a:pPr>
            <a:r>
              <a:rPr lang="en-US" sz="1500" dirty="0"/>
              <a:t>Kharif shows the highest average yield (5.64 t/ha) — about 21% higher than Zaid (4.67 t/ha)</a:t>
            </a:r>
          </a:p>
          <a:p>
            <a:pPr marL="285750" indent="-285750">
              <a:buClr>
                <a:srgbClr val="1F6FB2"/>
              </a:buClr>
              <a:buFont typeface="Arial"/>
              <a:buChar char="•"/>
              <a:spcAft>
                <a:spcPts val="1200"/>
              </a:spcAft>
              <a:lnSpc>
                <a:spcPct val="110000"/>
              </a:lnSpc>
            </a:pPr>
            <a:r>
              <a:rPr lang="en-US" sz="1500" dirty="0"/>
              <a:t>Better monsoon-driven growing conditions in Kharif help explain the gap</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anchor="t" lIns="0" tIns="0" rIns="0" bIns="0"/>
          <a:lstStyle/>
          <a:p>
            <a:pPr marL="0" indent="0">
              <a:buNone/>
            </a:pPr>
            <a:r>
              <a:rPr lang="en-US" sz="2000" b="1" dirty="0">
                <a:solidFill>
                  <a:srgbClr val="1F6FB2"/>
                </a:solidFill>
              </a:rPr>
              <a:t>Economic Performance by Season</a:t>
            </a:r>
          </a:p>
        </p:txBody>
      </p:sp>
      <p:pic>
        <p:nvPicPr>
          <p:cNvPr id="12" name="Chart Profit"/>
          <p:cNvPicPr>
            <a:picLocks noChangeAspect="1"/>
          </p:cNvPicPr>
          <p:nvPr/>
        </p:nvPicPr>
        <p:blipFill>
          <a:blip r:embed="rId3"/>
          <a:stretch>
            <a:fillRect/>
          </a:stretch>
        </p:blipFill>
        <p:spPr>
          <a:xfrm>
            <a:off x="675957" y="2018750"/>
            <a:ext cx="6500000" cy="4062500"/>
          </a:xfrm>
          <a:prstGeom prst="rect">
            <a:avLst/>
          </a:prstGeom>
        </p:spPr>
      </p:pic>
      <p:sp>
        <p:nvSpPr>
          <p:cNvPr id="13" name="Insights"/>
          <p:cNvSpPr txBox="1"/>
          <p:nvPr/>
        </p:nvSpPr>
        <p:spPr>
          <a:xfrm>
            <a:off x="7450000" y="1950000"/>
            <a:ext cx="4050000" cy="42000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500" dirty="0"/>
              <a:t>Kharif delivers the highest average profit per farm (≈ ₹1.79 lakh); Zaid runs a net average loss (≈ -₹25,000)</a:t>
            </a:r>
          </a:p>
          <a:p>
            <a:pPr marL="285750" indent="-285750">
              <a:buClr>
                <a:srgbClr val="1F6FB2"/>
              </a:buClr>
              <a:buFont typeface="Arial"/>
              <a:buChar char="•"/>
              <a:spcAft>
                <a:spcPts val="1200"/>
              </a:spcAft>
              <a:lnSpc>
                <a:spcPct val="110000"/>
              </a:lnSpc>
            </a:pPr>
            <a:r>
              <a:rPr lang="en-US" sz="1500" dirty="0"/>
              <a:t>Share of loss-making farms rises sharply: 42% (Kharif) → 51% (Rabi) → 65% (Zaid)</a:t>
            </a:r>
          </a:p>
          <a:p>
            <a:pPr marL="285750" indent="-285750">
              <a:buClr>
                <a:srgbClr val="1F6FB2"/>
              </a:buClr>
              <a:buFont typeface="Arial"/>
              <a:buChar char="•"/>
              <a:spcAft>
                <a:spcPts val="1200"/>
              </a:spcAft>
              <a:lnSpc>
                <a:spcPct val="110000"/>
              </a:lnSpc>
            </a:pPr>
            <a:r>
              <a:rPr lang="en-US" sz="1500" dirty="0"/>
              <a:t>Falling revenue combined with steady-to-rising costs squeezes margins moving into Zaid</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anchor="t" lIns="0" tIns="0" rIns="0" bIns="0"/>
          <a:lstStyle/>
          <a:p>
            <a:pPr marL="0" indent="0">
              <a:buNone/>
            </a:pPr>
            <a:r>
              <a:rPr lang="en-US" sz="2000" b="1" dirty="0">
                <a:solidFill>
                  <a:srgbClr val="1F6FB2"/>
                </a:solidFill>
              </a:rPr>
              <a:t>Seasonal Environmental Conditions</a:t>
            </a:r>
          </a:p>
        </p:txBody>
      </p:sp>
      <p:pic>
        <p:nvPicPr>
          <p:cNvPr id="12" name="Chart Environment"/>
          <p:cNvPicPr>
            <a:picLocks noChangeAspect="1"/>
          </p:cNvPicPr>
          <p:nvPr/>
        </p:nvPicPr>
        <p:blipFill>
          <a:blip r:embed="rId3"/>
          <a:stretch>
            <a:fillRect/>
          </a:stretch>
        </p:blipFill>
        <p:spPr>
          <a:xfrm>
            <a:off x="2187389" y="1950000"/>
            <a:ext cx="7477134" cy="3000000"/>
          </a:xfrm>
          <a:prstGeom prst="rect">
            <a:avLst/>
          </a:prstGeom>
        </p:spPr>
      </p:pic>
      <p:sp>
        <p:nvSpPr>
          <p:cNvPr id="13" name="Env Insights"/>
          <p:cNvSpPr txBox="1"/>
          <p:nvPr/>
        </p:nvSpPr>
        <p:spPr>
          <a:xfrm>
            <a:off x="675957" y="5150000"/>
            <a:ext cx="10500000" cy="11500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500" dirty="0"/>
              <a:t>Kharif is the wettest and most humid season (852 mm rainfall, 72% humidity) — driven by the monsoon</a:t>
            </a:r>
          </a:p>
          <a:p>
            <a:pPr marL="285750" indent="-285750">
              <a:buClr>
                <a:srgbClr val="1F6FB2"/>
              </a:buClr>
              <a:buFont typeface="Arial"/>
              <a:buChar char="•"/>
              <a:spcAft>
                <a:spcPts val="1200"/>
              </a:spcAft>
              <a:lnSpc>
                <a:spcPct val="110000"/>
              </a:lnSpc>
            </a:pPr>
            <a:r>
              <a:rPr lang="en-US" sz="1500" dirty="0"/>
              <a:t>Zaid is the hottest and driest season (31°C avg, 52% humidity, only 299 mm rainfall)</a:t>
            </a:r>
          </a:p>
          <a:p>
            <a:pPr marL="285750" indent="-285750">
              <a:buClr>
                <a:srgbClr val="1F6FB2"/>
              </a:buClr>
              <a:buFont typeface="Arial"/>
              <a:buChar char="•"/>
              <a:spcAft>
                <a:spcPts val="1200"/>
              </a:spcAft>
              <a:lnSpc>
                <a:spcPct val="110000"/>
              </a:lnSpc>
            </a:pPr>
            <a:r>
              <a:rPr lang="en-US" sz="1500" dirty="0"/>
              <a:t>Rabi is the mildest season (23°C avg), well suited to winter crops such as wheat</a:t>
            </a:r>
          </a:p>
          <a:p>
            <a:pPr marL="285750" indent="-285750">
              <a:buClr>
                <a:srgbClr val="1F6FB2"/>
              </a:buClr>
              <a:buFont typeface="Arial"/>
              <a:buChar char="•"/>
              <a:spcAft>
                <a:spcPts val="1200"/>
              </a:spcAft>
              <a:lnSpc>
                <a:spcPct val="110000"/>
              </a:lnSpc>
            </a:pPr>
            <a:r>
              <a:rPr lang="en-US" sz="1500" dirty="0"/>
              <a:t>These environmental shifts explain much of the season-wise gap seen in yield and irrigation demand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anchor="t" lIns="0" tIns="0" rIns="0" bIns="0"/>
          <a:lstStyle/>
          <a:p>
            <a:pPr marL="0" indent="0">
              <a:buNone/>
            </a:pPr>
            <a:r>
              <a:rPr lang="en-US" sz="2000" b="1" dirty="0">
                <a:solidFill>
                  <a:srgbClr val="1F6FB2"/>
                </a:solidFill>
              </a:rPr>
              <a:t>Irrigation Efficiency &amp; Risk Indicators</a:t>
            </a:r>
          </a:p>
        </p:txBody>
      </p:sp>
      <p:pic>
        <p:nvPicPr>
          <p:cNvPr id="12" name="Chart Irrigation"/>
          <p:cNvPicPr>
            <a:picLocks noChangeAspect="1"/>
          </p:cNvPicPr>
          <p:nvPr/>
        </p:nvPicPr>
        <p:blipFill>
          <a:blip r:embed="rId3"/>
          <a:stretch>
            <a:fillRect/>
          </a:stretch>
        </p:blipFill>
        <p:spPr>
          <a:xfrm>
            <a:off x="675957" y="1950000"/>
            <a:ext cx="5100000" cy="3187500"/>
          </a:xfrm>
          <a:prstGeom prst="rect">
            <a:avLst/>
          </a:prstGeom>
        </p:spPr>
      </p:pic>
      <p:pic>
        <p:nvPicPr>
          <p:cNvPr id="13" name="Chart Risk"/>
          <p:cNvPicPr>
            <a:picLocks noChangeAspect="1"/>
          </p:cNvPicPr>
          <p:nvPr/>
        </p:nvPicPr>
        <p:blipFill>
          <a:blip r:embed="rId4"/>
          <a:stretch>
            <a:fillRect/>
          </a:stretch>
        </p:blipFill>
        <p:spPr>
          <a:xfrm>
            <a:off x="6075957" y="1950000"/>
            <a:ext cx="5100000" cy="2390303"/>
          </a:xfrm>
          <a:prstGeom prst="rect">
            <a:avLst/>
          </a:prstGeom>
        </p:spPr>
      </p:pic>
      <p:sp>
        <p:nvSpPr>
          <p:cNvPr id="14" name="Risk Insights"/>
          <p:cNvSpPr txBox="1"/>
          <p:nvPr/>
        </p:nvSpPr>
        <p:spPr>
          <a:xfrm>
            <a:off x="675957" y="5337500"/>
            <a:ext cx="10500000" cy="9625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500" dirty="0"/>
              <a:t>Rainfed fields show the best raw water efficiency, but Drip irrigation gives the highest yield (6.62 t/ha) with much lower flood/disease risk</a:t>
            </a:r>
          </a:p>
          <a:p>
            <a:pPr marL="285750" indent="-285750">
              <a:buClr>
                <a:srgbClr val="1F6FB2"/>
              </a:buClr>
              <a:buFont typeface="Arial"/>
              <a:buChar char="•"/>
              <a:spcAft>
                <a:spcPts val="1200"/>
              </a:spcAft>
              <a:lnSpc>
                <a:spcPct val="110000"/>
              </a:lnSpc>
            </a:pPr>
            <a:r>
              <a:rPr lang="en-US" sz="1500" dirty="0"/>
              <a:t>Disease/pest risk and the share of loss-making farms both climb steadily from Kharif → Rabi → Zaid, peaking in the driest season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anchor="t" lIns="0" tIns="0" rIns="0" bIns="0"/>
          <a:lstStyle/>
          <a:p>
            <a:pPr marL="0" indent="0">
              <a:buNone/>
            </a:pPr>
            <a:r>
              <a:rPr lang="en-US" sz="2000" b="1" dirty="0">
                <a:solidFill>
                  <a:srgbClr val="1F6FB2"/>
                </a:solidFill>
              </a:rPr>
              <a:t>Yield by State &amp; Key Takeaways</a:t>
            </a:r>
          </a:p>
        </p:txBody>
      </p:sp>
      <p:pic>
        <p:nvPicPr>
          <p:cNvPr id="12" name="Chart State Yield"/>
          <p:cNvPicPr>
            <a:picLocks noChangeAspect="1"/>
          </p:cNvPicPr>
          <p:nvPr/>
        </p:nvPicPr>
        <p:blipFill>
          <a:blip r:embed="rId3"/>
          <a:stretch>
            <a:fillRect/>
          </a:stretch>
        </p:blipFill>
        <p:spPr>
          <a:xfrm>
            <a:off x="675957" y="2244444"/>
            <a:ext cx="6500000" cy="3611111"/>
          </a:xfrm>
          <a:prstGeom prst="rect">
            <a:avLst/>
          </a:prstGeom>
        </p:spPr>
      </p:pic>
      <p:sp>
        <p:nvSpPr>
          <p:cNvPr id="13" name="Insights"/>
          <p:cNvSpPr txBox="1"/>
          <p:nvPr/>
        </p:nvSpPr>
        <p:spPr>
          <a:xfrm>
            <a:off x="7450000" y="1950000"/>
            <a:ext cx="4050000" cy="42000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400" dirty="0"/>
              <a:t>Punjab records the highest average yield (6.12 t/ha); Andhra Pradesh the lowest (4.65 t/ha)</a:t>
            </a:r>
          </a:p>
          <a:p>
            <a:pPr marL="285750" indent="-285750">
              <a:buClr>
                <a:srgbClr val="1F6FB2"/>
              </a:buClr>
              <a:buFont typeface="Arial"/>
              <a:buChar char="•"/>
              <a:spcAft>
                <a:spcPts val="1200"/>
              </a:spcAft>
              <a:lnSpc>
                <a:spcPct val="110000"/>
              </a:lnSpc>
            </a:pPr>
            <a:r>
              <a:rPr lang="en-US" sz="1400" dirty="0"/>
              <a:t>Season is a far stronger yield driver than fertilizer or pesticide dose (near-zero correlation)</a:t>
            </a:r>
          </a:p>
          <a:p>
            <a:pPr marL="285750" indent="-285750">
              <a:buClr>
                <a:srgbClr val="1F6FB2"/>
              </a:buClr>
              <a:buFont typeface="Arial"/>
              <a:buChar char="•"/>
              <a:spcAft>
                <a:spcPts val="1200"/>
              </a:spcAft>
              <a:lnSpc>
                <a:spcPct val="110000"/>
              </a:lnSpc>
            </a:pPr>
            <a:r>
              <a:rPr lang="en-US" sz="1400" dirty="0"/>
              <a:t>Water-use efficiency is the strongest yield driver (r ≈ 0.92) — irrigation strategy matters more than raw water volume</a:t>
            </a:r>
          </a:p>
          <a:p>
            <a:pPr marL="285750" indent="-285750">
              <a:buClr>
                <a:srgbClr val="1F6FB2"/>
              </a:buClr>
              <a:buFont typeface="Arial"/>
              <a:buChar char="•"/>
              <a:spcAft>
                <a:spcPts val="1200"/>
              </a:spcAft>
              <a:lnSpc>
                <a:spcPct val="110000"/>
              </a:lnSpc>
            </a:pPr>
            <a:r>
              <a:rPr lang="en-US" sz="1400" dirty="0"/>
              <a:t>Recommendation: prioritize Kharif-season planning, promote efficient irrigation (drip), and build season-specific risk buffers for Zaid</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Future Scope Body"/>
          <p:cNvSpPr txBox="1"/>
          <p:nvPr/>
        </p:nvSpPr>
        <p:spPr>
          <a:xfrm>
            <a:off x="675957" y="1950000"/>
            <a:ext cx="10500000" cy="4300000"/>
          </a:xfrm>
          <a:prstGeom prst="rect">
            <a:avLst/>
          </a:prstGeom>
          <a:noFill/>
        </p:spPr>
        <p:txBody>
          <a:bodyPr wrap="square" anchor="t" lIns="0" tIns="0" rIns="0" bIns="0">
            <a:normAutofit/>
          </a:bodyPr>
          <a:lstStyle/>
          <a:p>
            <a:pPr marL="285750" indent="-285750">
              <a:buClr>
                <a:srgbClr val="1F6FB2"/>
              </a:buClr>
              <a:buFont typeface="Arial"/>
              <a:buChar char="•"/>
              <a:spcAft>
                <a:spcPts val="1200"/>
              </a:spcAft>
              <a:lnSpc>
                <a:spcPct val="110000"/>
              </a:lnSpc>
            </a:pPr>
            <a:r>
              <a:rPr lang="en-US" sz="1800" dirty="0"/>
              <a:t>Extend the analysis with district-level and multi-year (time-series) data to capture year-on-year seasonal trends</a:t>
            </a:r>
          </a:p>
          <a:p>
            <a:pPr marL="285750" indent="-285750">
              <a:buClr>
                <a:srgbClr val="1F6FB2"/>
              </a:buClr>
              <a:buFont typeface="Arial"/>
              <a:buChar char="•"/>
              <a:spcAft>
                <a:spcPts val="1200"/>
              </a:spcAft>
              <a:lnSpc>
                <a:spcPct val="110000"/>
              </a:lnSpc>
            </a:pPr>
            <a:r>
              <a:rPr lang="en-US" sz="1800" dirty="0"/>
              <a:t>Build a predictive model (regression / machine learning) to forecast yield and profit from season, irrigation and soil inputs</a:t>
            </a:r>
          </a:p>
          <a:p>
            <a:pPr marL="285750" indent="-285750">
              <a:buClr>
                <a:srgbClr val="1F6FB2"/>
              </a:buClr>
              <a:buFont typeface="Arial"/>
              <a:buChar char="•"/>
              <a:spcAft>
                <a:spcPts val="1200"/>
              </a:spcAft>
              <a:lnSpc>
                <a:spcPct val="110000"/>
              </a:lnSpc>
            </a:pPr>
            <a:r>
              <a:rPr lang="en-US" sz="1800" dirty="0"/>
              <a:t>Develop an interactive dashboard (Power BI / Tableau / Streamlit) for real-time seasonal monitoring by farmers and policymakers</a:t>
            </a:r>
          </a:p>
          <a:p>
            <a:pPr marL="285750" indent="-285750">
              <a:buClr>
                <a:srgbClr val="1F6FB2"/>
              </a:buClr>
              <a:buFont typeface="Arial"/>
              <a:buChar char="•"/>
              <a:spcAft>
                <a:spcPts val="1200"/>
              </a:spcAft>
              <a:lnSpc>
                <a:spcPct val="110000"/>
              </a:lnSpc>
            </a:pPr>
            <a:r>
              <a:rPr lang="en-US" sz="1800" dirty="0"/>
              <a:t>Incorporate satellite and weather-API data for more granular, location-specific environmental tracking</a:t>
            </a:r>
          </a:p>
          <a:p>
            <a:pPr marL="285750" indent="-285750">
              <a:buClr>
                <a:srgbClr val="1F6FB2"/>
              </a:buClr>
              <a:buFont typeface="Arial"/>
              <a:buChar char="•"/>
              <a:spcAft>
                <a:spcPts val="1200"/>
              </a:spcAft>
              <a:lnSpc>
                <a:spcPct val="110000"/>
              </a:lnSpc>
            </a:pPr>
            <a:r>
              <a:rPr lang="en-US" sz="1800" dirty="0"/>
              <a:t>Extend the profitability analysis with market-price forecasting to guide crop and season selection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